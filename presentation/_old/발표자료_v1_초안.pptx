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5D8A"/>
                </a:solidFill>
                <a:latin typeface="Consolas"/>
              </a:rPr>
              <a:t>2026 첨단산업 인재양성 부트캠프 · 프로젝트 LAB · 큰삼촌컴퍼니 기업과제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1C2230"/>
                </a:solidFill>
                <a:latin typeface="맑은 고딕"/>
              </a:rPr>
              <a:t>협력사 의존을 회사 자산으로</a:t>
            </a:r>
          </a:p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1C2230"/>
                </a:solidFill>
                <a:latin typeface="맑은 고딕"/>
              </a:rPr>
              <a:t>일본 잠재고객 접촉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5B6472"/>
                </a:solidFill>
                <a:latin typeface="맑은 고딕"/>
              </a:rPr>
              <a:t>일본 진출 잠재고객 탐색에서 협력사에게만 있던 판단을 회사 내부의 재사용 가능한 자산으로 옮겨,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5B6472"/>
                </a:solidFill>
                <a:latin typeface="맑은 고딕"/>
              </a:rPr>
              <a:t>세그먼트별 제안 메일을 사람 승인 후 발송하고, 실제 반응으로 그 자산을 계속 고친다.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2"/>
                </a:solidFill>
                <a:latin typeface="Consolas"/>
              </a:rPr>
              <a:t>[팀명 입력] · 2026-08-05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F6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F6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문제 · 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6576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onsolas"/>
              </a:rPr>
              <a:t>0:00  ·  45초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1C2230"/>
                </a:solidFill>
                <a:latin typeface="맑은 고딕"/>
              </a:rPr>
              <a:t>일본 진출 요청 뒤에는 협력사 의존이라는 실패가 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1201400" cy="960120"/>
          </a:xfrm>
          <a:prstGeom prst="roundRect">
            <a:avLst>
              <a:gd name="adj" fmla="val 8000"/>
            </a:avLst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27000" bIns="127000"/>
          <a:lstStyle/>
          <a:p>
            <a:pPr algn="l"/>
            <a:r>
              <a:rPr sz="1100" b="1">
                <a:solidFill>
                  <a:srgbClr val="2F5D8A"/>
                </a:solidFill>
                <a:latin typeface="Consolas"/>
              </a:rPr>
              <a:t>기업과제 원문</a:t>
            </a:r>
          </a:p>
          <a:p>
            <a:pPr>
              <a:spcBef>
                <a:spcPts val="400"/>
              </a:spcBef>
            </a:pPr>
            <a:r>
              <a:rPr sz="1500" i="1">
                <a:solidFill>
                  <a:srgbClr val="1C2230"/>
                </a:solidFill>
                <a:latin typeface="맑은 고딕"/>
              </a:rPr>
              <a:t>“ 진출 대상 국가에 적합한 잠재고객을 자동으로 탐색·목록화하고, 고객 특성에 맞춘 제안 메일을 반자동으로 작성·발송하는 AI 에이전트를 개발합니다. 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3611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355848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6420"/>
                </a:solidFill>
                <a:latin typeface="Consolas"/>
              </a:rPr>
              <a:t>실패 사례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703320"/>
            <a:ext cx="3209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C2230"/>
                </a:solidFill>
                <a:latin typeface="맑은 고딕"/>
              </a:rPr>
              <a:t>직접 가봤지만 어려웠다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526280"/>
            <a:ext cx="32095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472"/>
                </a:solidFill>
                <a:latin typeface="맑은 고딕"/>
              </a:rPr>
              <a:t>일본 시장조사·잠재고객 수집을 회사가 직접 시도했으나 난항이었다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154680"/>
            <a:ext cx="3611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3355848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6420"/>
                </a:solidFill>
                <a:latin typeface="Consolas"/>
              </a:rPr>
              <a:t>실패 사례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703320"/>
            <a:ext cx="3209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C2230"/>
                </a:solidFill>
                <a:latin typeface="맑은 고딕"/>
              </a:rPr>
              <a:t>협력사 의존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526280"/>
            <a:ext cx="32095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472"/>
                </a:solidFill>
                <a:latin typeface="맑은 고딕"/>
              </a:rPr>
              <a:t>협력사를 통해야 진행되고, 협력사는 자기 경험 영역만 다룬다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154680"/>
            <a:ext cx="3611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3355848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6420"/>
                </a:solidFill>
                <a:latin typeface="Consolas"/>
              </a:rPr>
              <a:t>실패 사례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703320"/>
            <a:ext cx="3209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C2230"/>
                </a:solidFill>
                <a:latin typeface="맑은 고딕"/>
              </a:rPr>
              <a:t>지금은 진행이 멈춰 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4526280"/>
            <a:ext cx="32095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472"/>
                </a:solidFill>
                <a:latin typeface="맑은 고딕"/>
              </a:rPr>
              <a:t>일본 협력사의 시간이 나지 않아 접촉 자체가 정지된 상태다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825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B6472"/>
                </a:solidFill>
                <a:latin typeface="Consolas"/>
              </a:rPr>
              <a:t>근거(발표자 백업, 슬라이드에는 미표기): 13S F10 · 31 §1-2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472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F6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F6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문제 · 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6576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onsolas"/>
              </a:rPr>
              <a:t>0:45  ·  45초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1C2230"/>
                </a:solidFill>
                <a:latin typeface="맑은 고딕"/>
              </a:rPr>
              <a:t>병목은 속도가 아니라 후보를 고를 기준의 부재다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E1EFE7"/>
          </a:solidFill>
          <a:ln w="22225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57399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D7A5C"/>
                </a:solidFill>
                <a:latin typeface="맑은 고딕"/>
              </a:rPr>
              <a:t>발굴형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039111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3D7A5C"/>
                </a:solidFill>
                <a:latin typeface="맑은 고딕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60319"/>
            <a:ext cx="32095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후보는 있지만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누구를 우선할지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판별을 못 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657599"/>
            <a:ext cx="3209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D7A5C"/>
                </a:solidFill>
                <a:latin typeface="맑은 고딕"/>
              </a:rPr>
              <a:t>지지사실 4개 · 반례 통과 → 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57399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6472"/>
                </a:solidFill>
                <a:latin typeface="맑은 고딕"/>
              </a:rPr>
              <a:t>전환형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60319"/>
            <a:ext cx="32095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접촉은 하는데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신뢰·언어 장벽에서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끊긴다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657599"/>
            <a:ext cx="3209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8175"/>
                </a:solidFill>
                <a:latin typeface="맑은 고딕"/>
              </a:rPr>
              <a:t>독립 지지 없음 → 검증 불가로 보류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57399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6472"/>
                </a:solidFill>
                <a:latin typeface="맑은 고딕"/>
              </a:rPr>
              <a:t>운영형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560319"/>
            <a:ext cx="32095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찾고 보내는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반복 노동이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C2230"/>
                </a:solidFill>
                <a:latin typeface="맑은 고딕"/>
              </a:rPr>
              <a:t>사람을 잡아먹는다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657599"/>
            <a:ext cx="3209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8175"/>
                </a:solidFill>
                <a:latin typeface="맑은 고딕"/>
              </a:rPr>
              <a:t>발굴형에 흡수되는 파생 요소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3484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F1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>
                <a:solidFill>
                  <a:srgbClr val="8F6420"/>
                </a:solidFill>
                <a:latin typeface="맑은 고딕"/>
              </a:rPr>
              <a:t>확정 — </a:t>
            </a:r>
            <a:r>
              <a:rPr sz="1450">
                <a:solidFill>
                  <a:srgbClr val="1C2230"/>
                </a:solidFill>
                <a:latin typeface="맑은 고딕"/>
              </a:rPr>
              <a:t>일본 잠재고객을 판별할 기준과 근거가 없어, 협력사 경험 반경 밖의 후보를 접촉 우선순위로 정리하지 못하는 것이 1차 병목이다.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825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B6472"/>
                </a:solidFill>
                <a:latin typeface="Consolas"/>
              </a:rPr>
              <a:t>근거(발표자 백업, 슬라이드에는 미표기): 20 §2-5 · F10·F11·F14·F15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472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설계 ·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6576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onsolas"/>
              </a:rPr>
              <a:t>1:30  ·  35초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1C2230"/>
                </a:solidFill>
                <a:latin typeface="맑은 고딕"/>
              </a:rPr>
              <a:t>협력사의 암묵적 판단을 회사 자산으로 옮긴다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920240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1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</a:rPr>
              <a:t>근본원인 — 해외영업 판단이 회사 자산이 아니라 협력사의 암묵적 경험에 갇혀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798064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98064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246120"/>
            <a:ext cx="4114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F6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b="1" sz="1400">
                <a:solidFill>
                  <a:srgbClr val="8F6420"/>
                </a:solidFill>
              </a:rPr>
              <a:t>병목 ① 기업서치  </a:t>
            </a:r>
            <a:r>
              <a:rPr b="1" sz="1050">
                <a:solidFill>
                  <a:srgbClr val="3D7A5C"/>
                </a:solidFill>
                <a:latin typeface="Consolas"/>
              </a:rPr>
              <a:t>확정</a:t>
            </a:r>
          </a:p>
          <a:p>
            <a:pPr algn="ctr"/>
            <a:r>
              <a:rPr sz="1250">
                <a:solidFill>
                  <a:srgbClr val="1C2230"/>
                </a:solidFill>
              </a:rPr>
              <a:t>협력사 경험 밖의 후보를
판별할 기준·근거가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41148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A81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b="1" sz="1400">
                <a:solidFill>
                  <a:srgbClr val="8A8175"/>
                </a:solidFill>
              </a:rPr>
              <a:t>병목 ② 이메일 제작·발송  </a:t>
            </a:r>
            <a:r>
              <a:rPr b="1" sz="1050">
                <a:solidFill>
                  <a:srgbClr val="8A8175"/>
                </a:solidFill>
                <a:latin typeface="Consolas"/>
              </a:rPr>
              <a:t>가설·설계 제약</a:t>
            </a:r>
          </a:p>
          <a:p>
            <a:pPr algn="ctr"/>
            <a:r>
              <a:rPr sz="1250">
                <a:solidFill>
                  <a:srgbClr val="1C2230"/>
                </a:solidFill>
              </a:rPr>
              <a:t>기업별 개별 맞춤을 유지하면
기업 수만큼 협력사 병목을 재생산한다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0799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20" y="4983480"/>
            <a:ext cx="8412480" cy="1005840"/>
          </a:xfrm>
          <a:prstGeom prst="roundRect">
            <a:avLst>
              <a:gd name="adj" fmla="val 10000"/>
            </a:avLst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해결 — 협력사의 판단을 명시적·재사용 가능하고, 반응으로 계속 갱신되는 회사 자산으로 옮긴다
</a:t>
            </a:r>
          </a:p>
          <a:p>
            <a:pPr algn="ctr"/>
            <a:r>
              <a:rPr sz="1250">
                <a:solidFill>
                  <a:srgbClr val="FFFFFF"/>
                </a:solidFill>
              </a:rPr>
              <a:t>지금(재사용) — 두 병목 모두 여기서 먼저 푼다 · 나중(학습) — 반응으로 갱신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825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B6472"/>
                </a:solidFill>
                <a:latin typeface="Consolas"/>
              </a:rPr>
              <a:t>근거(발표자 백업, 슬라이드에는 미표기): 21 §1-3 · 20 §5-1 · 33 D18 · 12 N29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472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설계 ·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6576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onsolas"/>
              </a:rPr>
              <a:t>2:05  ·  55초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1C2230"/>
                </a:solidFill>
                <a:latin typeface="맑은 고딕"/>
              </a:rPr>
              <a:t>11개 기능이 탐색부터 학습까지 하나의 흐름으로 잇는다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679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1EFE7"/>
          </a:solidFill>
          <a:ln w="1905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3D7A5C"/>
                </a:solidFill>
                <a:latin typeface="Consolas"/>
              </a:rPr>
              <a:t>G1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대상기업
발굴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3535" y="270205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7583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1EFE7"/>
          </a:solidFill>
          <a:ln w="1905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3D7A5C"/>
                </a:solidFill>
                <a:latin typeface="Consolas"/>
              </a:rPr>
              <a:t>G2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세그먼트화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1439" y="270205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487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DEAE6"/>
          </a:solidFill>
          <a:ln w="19050">
            <a:solidFill>
              <a:srgbClr val="8A81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8A8175"/>
                </a:solidFill>
                <a:latin typeface="Consolas"/>
              </a:rPr>
              <a:t>G3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적합도
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9343" y="270205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3391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1EFE7"/>
          </a:solidFill>
          <a:ln w="1905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3D7A5C"/>
                </a:solidFill>
                <a:latin typeface="Consolas"/>
              </a:rPr>
              <a:t>G4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연락처
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247" y="270205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1295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1EFE7"/>
          </a:solidFill>
          <a:ln w="1905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3D7A5C"/>
                </a:solidFill>
                <a:latin typeface="Consolas"/>
              </a:rPr>
              <a:t>G5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메일 제작
·발송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5151" y="270205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69199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1EFE7"/>
          </a:solidFill>
          <a:ln w="1905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3D7A5C"/>
                </a:solidFill>
                <a:latin typeface="Consolas"/>
              </a:rPr>
              <a:t>G6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발송결과
판정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3055" y="270205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7103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1EFE7"/>
          </a:solidFill>
          <a:ln w="1905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3D7A5C"/>
                </a:solidFill>
                <a:latin typeface="Consolas"/>
              </a:rPr>
              <a:t>G7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회신 해석
·정리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0959" y="270205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5007" y="2331720"/>
            <a:ext cx="1207008" cy="1143000"/>
          </a:xfrm>
          <a:prstGeom prst="roundRect">
            <a:avLst>
              <a:gd name="adj" fmla="val 10000"/>
            </a:avLst>
          </a:prstGeom>
          <a:solidFill>
            <a:srgbClr val="EDEAE6"/>
          </a:solidFill>
          <a:ln w="19050">
            <a:solidFill>
              <a:srgbClr val="8A81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8A8175"/>
                </a:solidFill>
                <a:latin typeface="Consolas"/>
              </a:rPr>
              <a:t>G8~11</a:t>
            </a:r>
          </a:p>
          <a:p>
            <a:pPr algn="ctr"/>
            <a:r>
              <a:rPr sz="950">
                <a:solidFill>
                  <a:srgbClr val="1C2230"/>
                </a:solidFill>
              </a:rPr>
              <a:t>원인분석·위임
재수집·학습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256032" cy="256032"/>
          </a:xfrm>
          <a:prstGeom prst="roundRect">
            <a:avLst>
              <a:gd name="adj" fmla="val 15000"/>
            </a:avLst>
          </a:prstGeom>
          <a:solidFill>
            <a:srgbClr val="E1EFE7"/>
          </a:solidFill>
          <a:ln w="15875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959351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2"/>
                </a:solidFill>
                <a:latin typeface="맑은 고딕"/>
              </a:rPr>
              <a:t>MVP — 지금 만든다 (6개)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977639"/>
            <a:ext cx="256032" cy="256032"/>
          </a:xfrm>
          <a:prstGeom prst="roundRect">
            <a:avLst>
              <a:gd name="adj" fmla="val 15000"/>
            </a:avLst>
          </a:prstGeom>
          <a:solidFill>
            <a:srgbClr val="EDEAE6"/>
          </a:solidFill>
          <a:ln w="15875">
            <a:solidFill>
              <a:srgbClr val="8A81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3959351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2"/>
                </a:solidFill>
                <a:latin typeface="맑은 고딕"/>
              </a:rPr>
              <a:t>부가 — 나중에 만든다 (5개)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50" b="1">
                <a:solidFill>
                  <a:srgbClr val="2F5D8A"/>
                </a:solidFill>
                <a:latin typeface="맑은 고딕"/>
              </a:rPr>
              <a:t>컨택 기회 확보가 1순위다. </a:t>
            </a:r>
            <a:r>
              <a:rPr sz="1300">
                <a:solidFill>
                  <a:srgbClr val="1C2230"/>
                </a:solidFill>
                <a:latin typeface="맑은 고딕"/>
              </a:rPr>
              <a:t>근거 없는 사전 검증 게이트로 후보를 미리 걸러내지 않는다 — 넓게 접촉을 시도하는 것이 먼저이고, 순위매기기(G3)·재시도(G8)·재수집(G10)·학습(G11)은 발송·회신 데이터가 쌓인 뒤의 일이다.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825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B6472"/>
                </a:solidFill>
                <a:latin typeface="Consolas"/>
              </a:rPr>
              <a:t>근거(발표자 백업, 슬라이드에는 미표기): 31 §2-3, §8-1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472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설계 · 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6576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onsolas"/>
              </a:rPr>
              <a:t>3:00  ·  55초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1C2230"/>
                </a:solidFill>
                <a:latin typeface="맑은 고딕"/>
              </a:rPr>
              <a:t>브리프의 세 가지 요구를 네 기능으로 눈에 띄게 충족한다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201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6263640"/>
              </a:tblGrid>
              <a:tr h="62865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브리프 요구</a:t>
                      </a:r>
                    </a:p>
                  </a:txBody>
                  <a:tcPr marL="177800" marR="177800" marT="127000" marB="127000" anchor="ctr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대응 기능</a:t>
                      </a:r>
                    </a:p>
                  </a:txBody>
                  <a:tcPr marL="177800" marR="177800" marT="127000" marB="127000" anchor="ctr">
                    <a:solidFill>
                      <a:srgbClr val="2F5D8A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C2230"/>
                          </a:solidFill>
                          <a:latin typeface="맑은 고딕"/>
                        </a:rPr>
                        <a:t>자동 탐색·목록화</a:t>
                      </a:r>
                    </a:p>
                  </a:txBody>
                  <a:tcPr marL="177800" marR="177800" marT="127000" marB="1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D7A5C"/>
                          </a:solidFill>
                          <a:latin typeface="Consolas"/>
                        </a:rPr>
                        <a:t>G1</a:t>
                      </a:r>
                      <a:r>
                        <a:rPr sz="1400" b="1">
                          <a:solidFill>
                            <a:srgbClr val="3D7A5C"/>
                          </a:solidFill>
                          <a:latin typeface="Consolas"/>
                        </a:rPr>
                        <a:t>  G2</a:t>
                      </a:r>
                      <a:r>
                        <a:rPr sz="1400" b="1">
                          <a:solidFill>
                            <a:srgbClr val="3D7A5C"/>
                          </a:solidFill>
                          <a:latin typeface="Consolas"/>
                        </a:rPr>
                        <a:t>  G4</a:t>
                      </a:r>
                    </a:p>
                  </a:txBody>
                  <a:tcPr marL="177800" marR="177800" marT="127000" marB="1270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C2230"/>
                          </a:solidFill>
                          <a:latin typeface="맑은 고딕"/>
                        </a:rPr>
                        <a:t>고객 특성 맞춤 메일</a:t>
                      </a:r>
                    </a:p>
                  </a:txBody>
                  <a:tcPr marL="177800" marR="177800" marT="127000" marB="1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D7A5C"/>
                          </a:solidFill>
                          <a:latin typeface="Consolas"/>
                        </a:rPr>
                        <a:t>G2</a:t>
                      </a:r>
                      <a:r>
                        <a:rPr sz="1400" b="1">
                          <a:solidFill>
                            <a:srgbClr val="3D7A5C"/>
                          </a:solidFill>
                          <a:latin typeface="Consolas"/>
                        </a:rPr>
                        <a:t>  G5</a:t>
                      </a:r>
                    </a:p>
                  </a:txBody>
                  <a:tcPr marL="177800" marR="177800" marT="127000" marB="1270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C2230"/>
                          </a:solidFill>
                          <a:latin typeface="맑은 고딕"/>
                        </a:rPr>
                        <a:t>반자동 작성·발송</a:t>
                      </a:r>
                    </a:p>
                  </a:txBody>
                  <a:tcPr marL="177800" marR="177800" marT="127000" marB="1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D7A5C"/>
                          </a:solidFill>
                          <a:latin typeface="Consolas"/>
                        </a:rPr>
                        <a:t>G5 승인 게이트</a:t>
                      </a:r>
                    </a:p>
                  </a:txBody>
                  <a:tcPr marL="177800" marR="177800" marT="127000" marB="127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0060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E1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350" b="1">
                <a:solidFill>
                  <a:srgbClr val="3D7A5C"/>
                </a:solidFill>
                <a:latin typeface="맑은 고딕"/>
              </a:rPr>
              <a:t>+ G6·G7 — </a:t>
            </a:r>
            <a:r>
              <a:rPr sz="1300">
                <a:solidFill>
                  <a:srgbClr val="1C2230"/>
                </a:solidFill>
                <a:latin typeface="맑은 고딕"/>
              </a:rPr>
              <a:t>회신을 사람에게 되돌리는 최소 경로. 이게 없으면 반자동의 취지(사람이 다음 대응을 판단한다)가 발송 이후로 끊긴다.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B6472"/>
                </a:solidFill>
                <a:latin typeface="Consolas"/>
              </a:rPr>
              <a:t>근거(발표자 백업, 슬라이드에는 미표기): 31 §8, §8-1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472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4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55848" y="2194560"/>
            <a:ext cx="5486400" cy="24688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8A81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55848" y="3063240"/>
            <a:ext cx="5486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1C2230"/>
                </a:solidFill>
                <a:latin typeface="맑은 고딕"/>
              </a:rPr>
              <a:t>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472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5C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효과 · S8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6576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2"/>
                </a:solidFill>
                <a:latin typeface="Consolas"/>
              </a:rPr>
              <a:t>6:00  ·  35초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1C2230"/>
                </a:solidFill>
                <a:latin typeface="맑은 고딕"/>
              </a:rPr>
              <a:t>컨택 기회가 쌓이면 순위화와 학습으로 확장한다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E1EFE7"/>
          </a:solidFill>
          <a:ln w="1905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/>
          <a:lstStyle/>
          <a:p>
            <a:pPr algn="ctr"/>
            <a:r>
              <a:rPr sz="1400" b="1">
                <a:solidFill>
                  <a:srgbClr val="3D7A5C"/>
                </a:solidFill>
              </a:rPr>
              <a:t>지금 — MVP
</a:t>
            </a:r>
          </a:p>
          <a:p>
            <a:r>
              <a:rPr sz="1300">
                <a:solidFill>
                  <a:srgbClr val="1C2230"/>
                </a:solidFill>
              </a:rPr>
              <a:t>G1·G2·G4·G5·G6·G7
컨택 기회 확보 + 반응 최소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862072"/>
            <a:ext cx="4572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46888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EDEAE6"/>
          </a:solidFill>
          <a:ln w="19050">
            <a:solidFill>
              <a:srgbClr val="8A81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/>
          <a:lstStyle/>
          <a:p>
            <a:pPr algn="ctr"/>
            <a:r>
              <a:rPr sz="1400" b="1">
                <a:solidFill>
                  <a:srgbClr val="8A8175"/>
                </a:solidFill>
              </a:rPr>
              <a:t>다음 — 부가 이연
</a:t>
            </a:r>
          </a:p>
          <a:p>
            <a:r>
              <a:rPr sz="1300">
                <a:solidFill>
                  <a:srgbClr val="1C2230"/>
                </a:solidFill>
              </a:rPr>
              <a:t>G3·G8·G9·G10·G11
발송·회신 데이터가 쌓이면 착수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/>
            <a:r>
              <a:rPr sz="1450" b="1">
                <a:solidFill>
                  <a:srgbClr val="FFFFFF"/>
                </a:solidFill>
              </a:rPr>
              <a:t>일본 진출 잠재고객 탐색에서 협력사에게만 있던 판단을 회사 내부의 재사용 가능한 자산으로 옮겨,
세그먼트별 제안 메일을 사람 승인 후 발송하고, 실제 반응으로 그 자산을 계속 고친다.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B6472"/>
                </a:solidFill>
                <a:latin typeface="Consolas"/>
              </a:rPr>
              <a:t>근거(발표자 백업, 슬라이드에는 미표기): 21 §5 · 31 §8-1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472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C2230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472"/>
                </a:solidFill>
                <a:latin typeface="Consolas"/>
              </a:rPr>
              <a:t>[팀명 입력]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